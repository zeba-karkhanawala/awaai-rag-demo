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8" r:id="rId1"/>
  </p:sldMasterIdLst>
  <p:notesMasterIdLst>
    <p:notesMasterId r:id="rId20"/>
  </p:notesMasterIdLst>
  <p:sldIdLst>
    <p:sldId id="256" r:id="rId2"/>
    <p:sldId id="262" r:id="rId3"/>
    <p:sldId id="263" r:id="rId4"/>
    <p:sldId id="259" r:id="rId5"/>
    <p:sldId id="264" r:id="rId6"/>
    <p:sldId id="268" r:id="rId7"/>
    <p:sldId id="266" r:id="rId8"/>
    <p:sldId id="269" r:id="rId9"/>
    <p:sldId id="271" r:id="rId10"/>
    <p:sldId id="279" r:id="rId11"/>
    <p:sldId id="277" r:id="rId12"/>
    <p:sldId id="272" r:id="rId13"/>
    <p:sldId id="265" r:id="rId14"/>
    <p:sldId id="275" r:id="rId15"/>
    <p:sldId id="267" r:id="rId16"/>
    <p:sldId id="280" r:id="rId17"/>
    <p:sldId id="273" r:id="rId18"/>
    <p:sldId id="276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7EB84"/>
    <a:srgbClr val="F3F3AA"/>
    <a:srgbClr val="63E4B6"/>
    <a:srgbClr val="B4B0FF"/>
    <a:srgbClr val="71CA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84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3FBBD3-2A30-5D41-9397-C35AB82629F2}" type="datetimeFigureOut">
              <a:rPr lang="en-US" smtClean="0"/>
              <a:t>2/5/25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390D41-C547-2A40-BC81-6830B1571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4478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B0DB3-A8FF-4ABB-9E2E-D960422260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25308"/>
          </a:xfrm>
        </p:spPr>
        <p:txBody>
          <a:bodyPr anchor="b">
            <a:normAutofit/>
          </a:bodyPr>
          <a:lstStyle>
            <a:lvl1pPr algn="ctr"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EE0618-75D7-410F-859C-CDF53BC53E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86729"/>
            <a:ext cx="9144000" cy="1135529"/>
          </a:xfrm>
        </p:spPr>
        <p:txBody>
          <a:bodyPr>
            <a:normAutofit/>
          </a:bodyPr>
          <a:lstStyle>
            <a:lvl1pPr marL="0" indent="0" algn="ctr">
              <a:lnSpc>
                <a:spcPct val="12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37F11-76DB-4DD9-9747-3F38D05BA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D44A8-39C8-3844-8902-272425669630}" type="datetime1">
              <a:rPr lang="en-US" smtClean="0"/>
              <a:t>2/5/25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9F581-81B0-44B3-ABA5-A25CA4BAE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Zeba Karkhanawala, AWAAI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10D591-ADCF-4300-8282-72AE357F3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8076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75558-A264-444E-829B-51AAE6B4B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D9373-37D1-4135-8D34-755E139F7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E4A6B-1966-4E57-9FB8-8B111E97B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B5C0D-CE5D-6E43-A4D0-B922499F8AD4}" type="datetime1">
              <a:rPr lang="en-US" smtClean="0"/>
              <a:t>2/5/25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FC3DD-F2BE-41FF-895B-00129AAB1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Zeba Karkhanawala, AWAAI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F830C-8424-4FAF-A011-605AE1D14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9075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A1BE8-ECC1-4027-B16E-C7BECCA9D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46C7E1-471A-46AA-8068-98E68C0C20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C9F8F-EC48-4D16-B4C6-023A7B607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2B440-75DA-1848-BED6-B9BA2E12A9D2}" type="datetime1">
              <a:rPr lang="en-US" smtClean="0"/>
              <a:t>2/5/25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9FA5B3-F726-417B-932A-B93E0C8F5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Zeba Karkhanawala, AWAAI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7D21F1-1A24-43EA-AB09-3024C491E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466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16569-B648-4D50-BEB8-E8DAE24D6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831B3-A1FD-470C-BEEE-4CFB441502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24493"/>
            <a:ext cx="5181600" cy="42524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34A17-C244-438C-9AE3-FB9B3CE3BD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24493"/>
            <a:ext cx="5181600" cy="42524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CFA3AA-3FC1-4B98-8F99-1726F1AC0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B8472-24AE-5A41-847E-77EB0C908805}" type="datetime1">
              <a:rPr lang="en-US" smtClean="0"/>
              <a:t>2/5/25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E10883-BACC-41A1-9067-ECFDB937D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Zeba Karkhanawala, AWAAI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7660A2-13C9-4432-A6EB-A4FF3D78F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409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7C843-C993-4E9C-80DD-3620816E5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1A8E3-B066-4511-9C6E-A3435B64DD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734325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E86B63-4102-4802-94D7-F138F80F3E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58237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924765-08A7-4A60-86DC-DC420F60BB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34325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AA2795-EFB6-4000-8F25-FBB62646C0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58237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942CFB-FE12-494A-9C41-3CB90F07B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65D55-1946-8E47-8B74-E99103C86FA9}" type="datetime1">
              <a:rPr lang="en-US" smtClean="0"/>
              <a:t>2/5/25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3A07E3-59E1-4EBD-9687-4B6ABE96A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Zeba Karkhanawala, AWAAI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F7BB23-7539-4674-8B66-ACEFF9468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2564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841DB-C73C-4968-B434-A6AA14DAF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8152BF-92C7-4BF5-A9DB-16A0BF0F5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7EFD7-0B61-A440-8357-5F945053204F}" type="datetime1">
              <a:rPr lang="en-US" smtClean="0"/>
              <a:t>2/5/25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289DB7-F492-4037-A439-D70F7E556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Zeba Karkhanawala, AWAAI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FA96F1-8B8A-4E83-B3C2-E10DE522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7643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031033-9688-463F-9614-47F2F5BC6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4E02E-CEDB-BF40-85F9-487978FE7570}" type="datetime1">
              <a:rPr lang="en-US" smtClean="0"/>
              <a:t>2/5/25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5B8DB2-C14B-45AC-ACAF-8702DF59C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Zeba Karkhanawala, AWAAI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01DA57-8D4E-4075-9460-4F03DF8AA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946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CBE2C-9DAA-489D-AC88-15CBBA8A9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124BE-E494-445A-A4FB-A2A8F28F0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2446DE-9A32-4774-9F7C-86678CA90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00115D-61B3-46D0-B4D3-30C374B52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C3095-7829-2944-9E5A-C31B7952F827}" type="datetime1">
              <a:rPr lang="en-US" smtClean="0"/>
              <a:t>2/5/25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3C2AFC-D0F8-469F-B1E0-123C2E066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Zeba Karkhanawala, AWAAI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B9BCDA-9EF7-4531-8021-AF7B30751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481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AE558-F89F-4688-94E5-77F37D49F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CD35AF-8CA2-49BB-BAE9-F29A0186EC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5CAA98-55BD-4118-A8AF-D603060784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BFF4C5-82A8-4AD8-B7E2-2882F6576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399AA-5D7A-9C4E-9224-8D9834B00E11}" type="datetime1">
              <a:rPr lang="en-US" smtClean="0"/>
              <a:t>2/5/25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60B401-B64F-417B-8AD6-581A22E5E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Zeba Karkhanawala, AWAAI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24BD4C-7149-44BF-8150-F72CAA95A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1211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E5C77-55F8-4677-A96C-E6D3F5545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A064EF-ADDA-4943-8F87-A7469D7997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B0D493-D1E7-4358-95E9-B5B80A49E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C0807-3C51-2D4F-B86E-3CA5B892C47A}" type="datetime1">
              <a:rPr lang="en-US" smtClean="0"/>
              <a:t>2/5/25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E98326-3276-4B9E-960F-10C6677BF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Zeba Karkhanawala, AWAAI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C3AC2-288D-4FEE-BF80-0EAEDDFAB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018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333C6A-5417-40BD-BF7A-9405832237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3BCB45-B343-46F6-9718-AA0D68CED1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DA2A4-FD34-4E17-908F-4367B1E64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D4D7E-952E-E748-9BA7-BB4DB55EB1BE}" type="datetime1">
              <a:rPr lang="en-US" smtClean="0"/>
              <a:t>2/5/25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87AE3-776D-451D-AA52-C06B74724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Zeba Karkhanawala, AWAAI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0C4D5-BE1E-4D6A-9196-E0F9E42B2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651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436E0F2-A64B-471E-93C0-8DFE08CC57C8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C1E3AB1-2A8C-4607-9FAE-D8BDB280FE1A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6D66059-832F-40B6-A35F-F56C8F38A1E7}"/>
              </a:ext>
            </a:extLst>
          </p:cNvPr>
          <p:cNvCxnSpPr>
            <a:cxnSpLocks/>
          </p:cNvCxnSpPr>
          <p:nvPr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515E2ED-7EA9-448D-83FA-54C3DF9723BD}"/>
              </a:ext>
            </a:extLst>
          </p:cNvPr>
          <p:cNvCxnSpPr>
            <a:cxnSpLocks/>
          </p:cNvCxnSpPr>
          <p:nvPr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0595356-EABD-4767-AC9D-EA21FF115EC0}"/>
              </a:ext>
            </a:extLst>
          </p:cNvPr>
          <p:cNvCxnSpPr>
            <a:cxnSpLocks/>
          </p:cNvCxnSpPr>
          <p:nvPr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8CD9F06-9628-469C-B788-A894E3E08281}"/>
              </a:ext>
            </a:extLst>
          </p:cNvPr>
          <p:cNvCxnSpPr>
            <a:cxnSpLocks/>
          </p:cNvCxnSpPr>
          <p:nvPr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550A431-0B61-421B-B4B7-24C0CFF0F938}"/>
              </a:ext>
            </a:extLst>
          </p:cNvPr>
          <p:cNvCxnSpPr>
            <a:cxnSpLocks/>
          </p:cNvCxnSpPr>
          <p:nvPr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5B94C5-D205-4339-B029-5D0FD2E5F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533401"/>
            <a:ext cx="9906000" cy="13821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96DC5C-BD34-4CE4-8AA7-A6A4B9516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2009554"/>
            <a:ext cx="9906000" cy="4024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F192A7-D622-449D-9FC2-48FDE4D690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37102" y="6398878"/>
            <a:ext cx="419390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F33BD2AD-4AC0-5244-A67F-8D38C5B48CDF}" type="datetime1">
              <a:rPr lang="en-US" smtClean="0"/>
              <a:t>2/5/25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5B93C-2BE9-4847-BFE5-D3CBCC6E94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4429" y="6398878"/>
            <a:ext cx="449731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="1" spc="3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Zeba Karkhanawala, AWAAI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70A99-395E-4F22-8AAB-6C7EE743D7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067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i="1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SzPct val="80000"/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karkhanawalazeba@gmail.com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larifai.com/blog/what-is-rag-retrieval-augmented-generation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www.linkedin.com/posts/bhavishya-pandit_10-rag-use-cases-across-different-industries-activity-7278639061349679104-gn27?utm_source=share&amp;utm_medium=member_desktop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ev.intripid.co/whats-next" TargetMode="External"/><Relationship Id="rId2" Type="http://schemas.openxmlformats.org/officeDocument/2006/relationships/image" Target="../media/image12.jf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lobalbrandsmagazine.com/openai-and-morgan-stanley-wealth-management-reach-key-milestone-in-joint-innovation-journey/" TargetMode="External"/><Relationship Id="rId7" Type="http://schemas.openxmlformats.org/officeDocument/2006/relationships/image" Target="../media/image15.png"/><Relationship Id="rId2" Type="http://schemas.openxmlformats.org/officeDocument/2006/relationships/hyperlink" Target="https://sendbird.com/blog/introducing-best-shopify-chatbot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hyperlink" Target="https://www.projectpro.io/article/rag-use-cases-and-applications/1059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html/2407.04925v1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hyperlink" Target="https://www.youtube.com/watch?v=sVcwVQRHIc8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rojectpro.io/article/rag-architecture/1079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p0Js7IF17yI" TargetMode="External"/><Relationship Id="rId2" Type="http://schemas.openxmlformats.org/officeDocument/2006/relationships/hyperlink" Target="https://www.youtube.com/watch?v=AdzKzlp66sQ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rojectpro.io/article/rag-use-cases-and-applications/1059" TargetMode="External"/><Relationship Id="rId7" Type="http://schemas.openxmlformats.org/officeDocument/2006/relationships/hyperlink" Target="https://www.kaggle.com/learn-guide/5-day-genai#GenAI" TargetMode="External"/><Relationship Id="rId2" Type="http://schemas.openxmlformats.org/officeDocument/2006/relationships/hyperlink" Target="https://www.youtube.com/watch?v=sVcwVQRHIc8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projectpro.io/article/rag-architecture/1079" TargetMode="External"/><Relationship Id="rId5" Type="http://schemas.openxmlformats.org/officeDocument/2006/relationships/hyperlink" Target="https://www.useparagon.com/blog/comprehensive-guide-to-the-rag-tech-stack" TargetMode="External"/><Relationship Id="rId4" Type="http://schemas.openxmlformats.org/officeDocument/2006/relationships/hyperlink" Target="https://www.clarifai.com/blog/what-is-rag-retrieval-augmented-generation" TargetMode="Externa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82950D9A-4705-4314-961A-4F88B2CE41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13969F2-ED52-4E5C-B3FC-01E01B8B9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2"/>
            <a:ext cx="12192000" cy="685734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F2F9C3-E754-0377-1270-791F75CD64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1870" y="749595"/>
            <a:ext cx="5645888" cy="3902149"/>
          </a:xfrm>
        </p:spPr>
        <p:txBody>
          <a:bodyPr anchor="t">
            <a:normAutofit/>
          </a:bodyPr>
          <a:lstStyle/>
          <a:p>
            <a:pPr algn="l"/>
            <a:r>
              <a:rPr lang="en-US" dirty="0"/>
              <a:t>Asian Women Advancing AI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B276DC-A184-4921-C3B7-1F81230597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1870" y="4341829"/>
            <a:ext cx="5528930" cy="999460"/>
          </a:xfrm>
        </p:spPr>
        <p:txBody>
          <a:bodyPr anchor="b">
            <a:normAutofit fontScale="85000" lnSpcReduction="10000"/>
          </a:bodyPr>
          <a:lstStyle/>
          <a:p>
            <a:pPr algn="l"/>
            <a:r>
              <a:rPr lang="en-US" sz="5400" dirty="0"/>
              <a:t>Learn &amp; </a:t>
            </a:r>
            <a:r>
              <a:rPr lang="en-US" sz="5400" dirty="0" err="1"/>
              <a:t>LeaD</a:t>
            </a:r>
            <a:r>
              <a:rPr lang="en-US" sz="5400" dirty="0"/>
              <a:t>: RAG</a:t>
            </a:r>
          </a:p>
        </p:txBody>
      </p:sp>
      <p:pic>
        <p:nvPicPr>
          <p:cNvPr id="20" name="Picture 19" descr="A close-up of a network&#10;&#10;Description automatically generated">
            <a:extLst>
              <a:ext uri="{FF2B5EF4-FFF2-40B4-BE49-F238E27FC236}">
                <a16:creationId xmlns:a16="http://schemas.microsoft.com/office/drawing/2014/main" id="{BA9644FF-0778-CDDA-4BAF-3BEC0D2F477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758" r="3783" b="-1"/>
          <a:stretch/>
        </p:blipFill>
        <p:spPr>
          <a:xfrm>
            <a:off x="5879804" y="-6350"/>
            <a:ext cx="6312196" cy="6874330"/>
          </a:xfrm>
          <a:custGeom>
            <a:avLst/>
            <a:gdLst/>
            <a:ahLst/>
            <a:cxnLst/>
            <a:rect l="l" t="t" r="r" b="b"/>
            <a:pathLst>
              <a:path w="6312196" h="6874330">
                <a:moveTo>
                  <a:pt x="2047193" y="0"/>
                </a:moveTo>
                <a:lnTo>
                  <a:pt x="6312196" y="0"/>
                </a:lnTo>
                <a:lnTo>
                  <a:pt x="6312196" y="6874330"/>
                </a:lnTo>
                <a:lnTo>
                  <a:pt x="0" y="6874330"/>
                </a:lnTo>
                <a:close/>
              </a:path>
            </a:pathLst>
          </a:cu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3AC671C-E66F-43C5-A66A-C477339DD2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634715" y="0"/>
            <a:ext cx="914401" cy="6857348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DDC02745-B483-3CAB-6C6D-2F1E2F6D576F}"/>
              </a:ext>
            </a:extLst>
          </p:cNvPr>
          <p:cNvSpPr txBox="1"/>
          <p:nvPr/>
        </p:nvSpPr>
        <p:spPr>
          <a:xfrm>
            <a:off x="871870" y="5427146"/>
            <a:ext cx="337784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Zeba Karkhanawala</a:t>
            </a:r>
          </a:p>
          <a:p>
            <a:r>
              <a:rPr lang="en-US" dirty="0"/>
              <a:t>AI Agents Developer Intern, </a:t>
            </a:r>
            <a:r>
              <a:rPr lang="en-US" dirty="0" err="1"/>
              <a:t>Virgent</a:t>
            </a:r>
            <a:r>
              <a:rPr lang="en-US" dirty="0"/>
              <a:t> AI</a:t>
            </a:r>
          </a:p>
          <a:p>
            <a:r>
              <a:rPr lang="en-US" sz="1400" dirty="0">
                <a:hlinkClick r:id="rId3"/>
              </a:rPr>
              <a:t>mailto:karkhanawalazeba@gmail.com</a:t>
            </a:r>
            <a:endParaRPr lang="en-US" sz="1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4D6863-1738-50FB-2208-AADEABE78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2851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76AE9-1B67-46F7-208D-EFE939E84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84B8574-C644-D541-7CC5-1DE6FD1391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5706" y="3695158"/>
            <a:ext cx="1510748" cy="46528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Cutoff Date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0FB090-ACB1-DA5A-520E-004913147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Challenges with Traditional ChatGPT for File-Based Queries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83447BE5-B9CD-2DEE-8C18-317C4EF54F4A}"/>
              </a:ext>
            </a:extLst>
          </p:cNvPr>
          <p:cNvSpPr txBox="1">
            <a:spLocks/>
          </p:cNvSpPr>
          <p:nvPr/>
        </p:nvSpPr>
        <p:spPr>
          <a:xfrm>
            <a:off x="3627783" y="3695157"/>
            <a:ext cx="1510748" cy="4652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Static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7F76D727-2B4A-D0F8-D73F-F07031DBF84E}"/>
              </a:ext>
            </a:extLst>
          </p:cNvPr>
          <p:cNvSpPr txBox="1">
            <a:spLocks/>
          </p:cNvSpPr>
          <p:nvPr/>
        </p:nvSpPr>
        <p:spPr>
          <a:xfrm>
            <a:off x="6009860" y="3695157"/>
            <a:ext cx="1510748" cy="4652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Accuracy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8CA2278-EA9C-B84C-DEDD-91C9193760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3384" y="2439505"/>
            <a:ext cx="1115391" cy="1115391"/>
          </a:xfrm>
          <a:prstGeom prst="rect">
            <a:avLst/>
          </a:prstGeom>
        </p:spPr>
      </p:pic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E6DBB258-42D3-DCF0-3D85-BBE79CB3123D}"/>
              </a:ext>
            </a:extLst>
          </p:cNvPr>
          <p:cNvSpPr txBox="1">
            <a:spLocks/>
          </p:cNvSpPr>
          <p:nvPr/>
        </p:nvSpPr>
        <p:spPr>
          <a:xfrm>
            <a:off x="8391937" y="3695156"/>
            <a:ext cx="1712843" cy="4652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Hallucination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ED2B877-0AFA-EB2E-B2CB-082583BBE2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3266" y="2441088"/>
            <a:ext cx="1113808" cy="111380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7F84B37-5AD3-25D8-E755-A104E8860F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4445810" y="3195775"/>
            <a:ext cx="596360" cy="59636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8281917-F978-71E0-F9EB-23BF632D12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2988" y="2364954"/>
            <a:ext cx="1264491" cy="126449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CA54B9B-3D71-36D5-378A-6F9EEC203506}"/>
              </a:ext>
            </a:extLst>
          </p:cNvPr>
          <p:cNvSpPr txBox="1"/>
          <p:nvPr/>
        </p:nvSpPr>
        <p:spPr>
          <a:xfrm>
            <a:off x="1101126" y="4160445"/>
            <a:ext cx="1799905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300" dirty="0"/>
              <a:t>ChatGPT lacks access to external data once trained, limiting its knowledge scope to the cutoff date.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2B559EF-C6F1-0655-12D3-B3D73AE8A7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3393" y="2299785"/>
            <a:ext cx="1264491" cy="126449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50AB7815-6DCD-1598-4DA1-204A64AD8399}"/>
              </a:ext>
            </a:extLst>
          </p:cNvPr>
          <p:cNvSpPr txBox="1"/>
          <p:nvPr/>
        </p:nvSpPr>
        <p:spPr>
          <a:xfrm>
            <a:off x="3517443" y="4160445"/>
            <a:ext cx="1731428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300" dirty="0"/>
              <a:t>Cannot dynamically ingest and process user-provided files during a session.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ADA724A-DEEA-D221-B35C-8726BFDF68C2}"/>
              </a:ext>
            </a:extLst>
          </p:cNvPr>
          <p:cNvSpPr txBox="1"/>
          <p:nvPr/>
        </p:nvSpPr>
        <p:spPr>
          <a:xfrm>
            <a:off x="5865283" y="4160445"/>
            <a:ext cx="1923033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300" dirty="0"/>
              <a:t>Struggles with answering questions accurately for large or complex documents without specific context.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BBAFF14-01C0-B911-8BE9-45F86B499DC8}"/>
              </a:ext>
            </a:extLst>
          </p:cNvPr>
          <p:cNvSpPr txBox="1"/>
          <p:nvPr/>
        </p:nvSpPr>
        <p:spPr>
          <a:xfrm>
            <a:off x="8286841" y="4160445"/>
            <a:ext cx="1923033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300" dirty="0"/>
              <a:t>May hallucinate information if the requested data is outside its training set.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45DE3F-4A7F-5BEF-283E-8ACFAA6DF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Zeba Karkhanawala, AWAAI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80730F-7754-5BBD-EB4B-02371E6F4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590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6" grpId="0"/>
      <p:bldP spid="7" grpId="0"/>
      <p:bldP spid="8" grpId="0"/>
      <p:bldP spid="17" grpId="0"/>
      <p:bldP spid="19" grpId="0"/>
      <p:bldP spid="21" grpId="0"/>
      <p:bldP spid="2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35931-2A43-2DE1-192C-24D2B0913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A440C-C469-A89C-BD01-FB06C55C7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RAG Is the Solution?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DFC8FD-777A-B4F7-DEF7-46A366B24A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83934" y="1865398"/>
            <a:ext cx="6838122" cy="51498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800" dirty="0"/>
              <a:t>Combines generative AI with up-to-date information from external sources.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1861CB8-4BBA-A5BD-1EE5-5E083871350B}"/>
              </a:ext>
            </a:extLst>
          </p:cNvPr>
          <p:cNvSpPr/>
          <p:nvPr/>
        </p:nvSpPr>
        <p:spPr>
          <a:xfrm>
            <a:off x="1143000" y="1815240"/>
            <a:ext cx="2613991" cy="615302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Real-Time Data Access</a:t>
            </a:r>
            <a:endParaRPr lang="en-US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35F4F0B-EA73-57E9-FBD3-1C9F723C67A3}"/>
              </a:ext>
            </a:extLst>
          </p:cNvPr>
          <p:cNvSpPr/>
          <p:nvPr/>
        </p:nvSpPr>
        <p:spPr>
          <a:xfrm>
            <a:off x="1142999" y="2813698"/>
            <a:ext cx="2613991" cy="615302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File Integration</a:t>
            </a:r>
            <a:endParaRPr lang="en-US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4E082FC-C0FA-D319-2FD4-AED95F7E759A}"/>
              </a:ext>
            </a:extLst>
          </p:cNvPr>
          <p:cNvSpPr/>
          <p:nvPr/>
        </p:nvSpPr>
        <p:spPr>
          <a:xfrm>
            <a:off x="1142999" y="3812156"/>
            <a:ext cx="2613991" cy="615302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Improved Accuracy</a:t>
            </a:r>
            <a:endParaRPr lang="en-US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41FD4E3-27B4-1E70-291A-291D5EB63933}"/>
              </a:ext>
            </a:extLst>
          </p:cNvPr>
          <p:cNvSpPr/>
          <p:nvPr/>
        </p:nvSpPr>
        <p:spPr>
          <a:xfrm>
            <a:off x="1142998" y="4810614"/>
            <a:ext cx="2613991" cy="615302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Scalability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458461F-D12F-1B37-8AF6-942F944704F5}"/>
              </a:ext>
            </a:extLst>
          </p:cNvPr>
          <p:cNvSpPr txBox="1">
            <a:spLocks/>
          </p:cNvSpPr>
          <p:nvPr/>
        </p:nvSpPr>
        <p:spPr>
          <a:xfrm>
            <a:off x="3983934" y="2863856"/>
            <a:ext cx="6988866" cy="51498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/>
              <a:t>Dynamically retrieves and processes information from large, complex documents.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08B41ED-85EB-D3E5-FA7C-A796AD1CFA32}"/>
              </a:ext>
            </a:extLst>
          </p:cNvPr>
          <p:cNvSpPr txBox="1">
            <a:spLocks/>
          </p:cNvSpPr>
          <p:nvPr/>
        </p:nvSpPr>
        <p:spPr>
          <a:xfrm>
            <a:off x="3983934" y="3862314"/>
            <a:ext cx="6838122" cy="5149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/>
              <a:t>Provides grounded, evidence-backed answers by retrieving relevant context.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ED0E47F-150E-5087-EB20-79245A6B6637}"/>
              </a:ext>
            </a:extLst>
          </p:cNvPr>
          <p:cNvSpPr txBox="1">
            <a:spLocks/>
          </p:cNvSpPr>
          <p:nvPr/>
        </p:nvSpPr>
        <p:spPr>
          <a:xfrm>
            <a:off x="3983934" y="4860772"/>
            <a:ext cx="7306918" cy="5149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/>
              <a:t>Efficiently handles large datasets or documents without overwhelming memory constraints.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A03D267-AF94-2D60-EE86-B9E904DA9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Zeba Karkhanawala, AWAAI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10BB9C1-CE3B-A480-C3FE-39382E7BC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36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 autoUpdateAnimBg="0"/>
      <p:bldP spid="5" grpId="0" animBg="1"/>
      <p:bldP spid="6" grpId="0" animBg="1"/>
      <p:bldP spid="7" grpId="0" animBg="1"/>
      <p:bldP spid="8" grpId="0"/>
      <p:bldP spid="9" grpId="0"/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8926B-2458-B2B0-0C10-175A16C2C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RAG Architecture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1032B7-D25D-957B-8B9E-24E71974D1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3548" y="2777253"/>
            <a:ext cx="5396948" cy="3076895"/>
          </a:xfrm>
        </p:spPr>
        <p:txBody>
          <a:bodyPr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ea typeface="Barlow"/>
                <a:cs typeface="Barlow"/>
                <a:sym typeface="Barlow"/>
              </a:rPr>
              <a:t>1. Query Processing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ea typeface="Barlow"/>
                <a:cs typeface="Barlow"/>
                <a:sym typeface="Barlow"/>
              </a:rPr>
              <a:t>   - User query is converted to vector embedding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ea typeface="Barlow"/>
                <a:cs typeface="Barlow"/>
                <a:sym typeface="Barlow"/>
              </a:rPr>
              <a:t>   - Same embedding model processes both query and documents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600" dirty="0">
              <a:ea typeface="Barlow"/>
              <a:cs typeface="Barlow"/>
              <a:sym typeface="Barlo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ea typeface="Barlow"/>
                <a:cs typeface="Barlow"/>
                <a:sym typeface="Barlow"/>
              </a:rPr>
              <a:t>2. Information Retrieval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ea typeface="Barlow"/>
                <a:cs typeface="Barlow"/>
                <a:sym typeface="Barlow"/>
              </a:rPr>
              <a:t>   - Query embedding used for similarity search in vector store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ea typeface="Barlow"/>
                <a:cs typeface="Barlow"/>
                <a:sym typeface="Barlow"/>
              </a:rPr>
              <a:t>   - Most relevant documents are retrieved as context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600" dirty="0">
              <a:ea typeface="Barlow"/>
              <a:cs typeface="Barlow"/>
              <a:sym typeface="Barlo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ea typeface="Barlow"/>
                <a:cs typeface="Barlow"/>
                <a:sym typeface="Barlow"/>
              </a:rPr>
              <a:t>3. Response Generation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ea typeface="Barlow"/>
                <a:cs typeface="Barlow"/>
                <a:sym typeface="Barlow"/>
              </a:rPr>
              <a:t>   - Query and retrieved context combined into prompt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ea typeface="Barlow"/>
                <a:cs typeface="Barlow"/>
                <a:sym typeface="Barlow"/>
              </a:rPr>
              <a:t>   - LLM generates response using both prompt and context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ea typeface="Barlow"/>
                <a:cs typeface="Barlow"/>
                <a:sym typeface="Barlow"/>
              </a:rPr>
              <a:t>   - Final output combines retrieved information with LLM's knowledge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33E35F-787D-B60D-1499-93B9431A2A5D}"/>
              </a:ext>
            </a:extLst>
          </p:cNvPr>
          <p:cNvSpPr txBox="1"/>
          <p:nvPr/>
        </p:nvSpPr>
        <p:spPr>
          <a:xfrm>
            <a:off x="1712015" y="1791823"/>
            <a:ext cx="8266872" cy="64633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ea typeface="Barlow"/>
                <a:cs typeface="Barlow"/>
                <a:sym typeface="Barlow"/>
              </a:rPr>
              <a:t>RAG enhances LLM responses by combining them with relevant information retrieved from a knowledge base, leading to more accurate and contextual outputs.</a:t>
            </a:r>
          </a:p>
        </p:txBody>
      </p:sp>
      <p:pic>
        <p:nvPicPr>
          <p:cNvPr id="6" name="Google Shape;334;p2">
            <a:extLst>
              <a:ext uri="{FF2B5EF4-FFF2-40B4-BE49-F238E27FC236}">
                <a16:creationId xmlns:a16="http://schemas.microsoft.com/office/drawing/2014/main" id="{F0F494A5-616D-5295-C47F-EFE7DBAAD0D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450496" y="2717677"/>
            <a:ext cx="4788848" cy="307689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335;p2">
            <a:extLst>
              <a:ext uri="{FF2B5EF4-FFF2-40B4-BE49-F238E27FC236}">
                <a16:creationId xmlns:a16="http://schemas.microsoft.com/office/drawing/2014/main" id="{F0240393-C897-74AA-F10B-F7C5EAF15ACC}"/>
              </a:ext>
            </a:extLst>
          </p:cNvPr>
          <p:cNvSpPr txBox="1"/>
          <p:nvPr/>
        </p:nvSpPr>
        <p:spPr>
          <a:xfrm>
            <a:off x="7344920" y="5970599"/>
            <a:ext cx="3000000" cy="379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lt1"/>
                </a:solidFill>
              </a:rPr>
              <a:t>(</a:t>
            </a:r>
            <a:r>
              <a:rPr lang="en" sz="1100" u="sng" dirty="0">
                <a:solidFill>
                  <a:srgbClr val="1155CC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Source</a:t>
            </a:r>
            <a:r>
              <a:rPr lang="en" sz="1100" dirty="0">
                <a:solidFill>
                  <a:schemeClr val="lt1"/>
                </a:solidFill>
              </a:rPr>
              <a:t>)</a:t>
            </a:r>
            <a:endParaRPr sz="1100" dirty="0">
              <a:solidFill>
                <a:schemeClr val="lt1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F74013-4347-B362-AF7B-AC7D7ABBD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Zeba Karkhanawala, AWAAI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70E3C3C-7BE8-FBA7-5857-029E52BC2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5835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21CF5-866C-6E05-70F2-5DC716C8B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A788E-F29D-8585-2EF8-F19BE71E3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533401"/>
            <a:ext cx="9906000" cy="848359"/>
          </a:xfrm>
        </p:spPr>
        <p:txBody>
          <a:bodyPr/>
          <a:lstStyle/>
          <a:p>
            <a:r>
              <a:rPr lang="en-US" dirty="0"/>
              <a:t>Why RAG Stands Out?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3DB62A-B9DF-B5E6-2818-87070BB36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3860" y="2009552"/>
            <a:ext cx="3359425" cy="1648047"/>
          </a:xfrm>
          <a:solidFill>
            <a:srgbClr val="D7EB84"/>
          </a:solidFill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Personalization</a:t>
            </a:r>
          </a:p>
          <a:p>
            <a:pPr marL="0" indent="0" algn="ctr">
              <a:buNone/>
            </a:pPr>
            <a:r>
              <a:rPr lang="en-US" sz="1800" dirty="0"/>
              <a:t>Tailor responses based on user context and retrieved data.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E8AA1A9-C776-8E3A-266A-836FE1C2BC53}"/>
              </a:ext>
            </a:extLst>
          </p:cNvPr>
          <p:cNvSpPr txBox="1">
            <a:spLocks/>
          </p:cNvSpPr>
          <p:nvPr/>
        </p:nvSpPr>
        <p:spPr>
          <a:xfrm>
            <a:off x="4803899" y="3994808"/>
            <a:ext cx="3359425" cy="1648046"/>
          </a:xfrm>
          <a:prstGeom prst="rect">
            <a:avLst/>
          </a:prstGeom>
          <a:solidFill>
            <a:srgbClr val="D7EB84"/>
          </a:solidFill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Modularity</a:t>
            </a:r>
          </a:p>
          <a:p>
            <a:pPr marL="0" indent="0" algn="ctr">
              <a:buNone/>
            </a:pPr>
            <a:r>
              <a:rPr lang="en-US" sz="1800" dirty="0"/>
              <a:t>Flexibility to integrate with existing systems like CRMs, analytics tools, etc.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063D661-8A7D-03D0-1B89-DF4ADB127480}"/>
              </a:ext>
            </a:extLst>
          </p:cNvPr>
          <p:cNvSpPr txBox="1">
            <a:spLocks/>
          </p:cNvSpPr>
          <p:nvPr/>
        </p:nvSpPr>
        <p:spPr>
          <a:xfrm>
            <a:off x="893860" y="4004004"/>
            <a:ext cx="3359425" cy="1648047"/>
          </a:xfrm>
          <a:prstGeom prst="rect">
            <a:avLst/>
          </a:prstGeom>
          <a:solidFill>
            <a:srgbClr val="D7EB84"/>
          </a:solidFill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Cost</a:t>
            </a:r>
            <a:r>
              <a:rPr lang="en-US" b="1" dirty="0"/>
              <a:t>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Efficiency</a:t>
            </a:r>
          </a:p>
          <a:p>
            <a:pPr marL="0" indent="0" algn="ctr">
              <a:buNone/>
            </a:pPr>
            <a:r>
              <a:rPr lang="en-US" sz="1800" dirty="0"/>
              <a:t>Reduces computation by focusing only on relevant parts of data. No need to train a Large Language Model.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473E793-9EF1-E630-937A-EC8502B45D43}"/>
              </a:ext>
            </a:extLst>
          </p:cNvPr>
          <p:cNvSpPr txBox="1">
            <a:spLocks/>
          </p:cNvSpPr>
          <p:nvPr/>
        </p:nvSpPr>
        <p:spPr>
          <a:xfrm>
            <a:off x="4803899" y="2009552"/>
            <a:ext cx="3359425" cy="1648047"/>
          </a:xfrm>
          <a:prstGeom prst="rect">
            <a:avLst/>
          </a:prstGeom>
          <a:solidFill>
            <a:srgbClr val="D7EB84"/>
          </a:solidFill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/>
              <a:t>Dynamic Updates</a:t>
            </a:r>
          </a:p>
          <a:p>
            <a:pPr marL="0" indent="0" algn="ctr">
              <a:buNone/>
            </a:pPr>
            <a:r>
              <a:rPr lang="en-US" sz="1800" dirty="0"/>
              <a:t>Works with live databases, ensuring fresh and relevant information.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7D129255-DF85-409F-CDA2-3662582F2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Zeba Karkhanawala, AWAAI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C3DF4A1-797D-2314-4F35-B3C384915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5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146B8DF-145A-E432-5659-48E5F91A5FCE}"/>
              </a:ext>
            </a:extLst>
          </p:cNvPr>
          <p:cNvSpPr txBox="1">
            <a:spLocks/>
          </p:cNvSpPr>
          <p:nvPr/>
        </p:nvSpPr>
        <p:spPr>
          <a:xfrm>
            <a:off x="8602179" y="2925016"/>
            <a:ext cx="3359425" cy="1648046"/>
          </a:xfrm>
          <a:prstGeom prst="rect">
            <a:avLst/>
          </a:prstGeom>
          <a:solidFill>
            <a:srgbClr val="D7EB84"/>
          </a:solidFill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Data Privacy</a:t>
            </a:r>
          </a:p>
          <a:p>
            <a:pPr marL="0" indent="0" algn="ctr">
              <a:buNone/>
            </a:pPr>
            <a:r>
              <a:rPr lang="en-US" sz="1800" dirty="0"/>
              <a:t>Enables secure queries on private datasets, protecting sensitive information from external exposure.</a:t>
            </a:r>
          </a:p>
        </p:txBody>
      </p:sp>
    </p:spTree>
    <p:extLst>
      <p:ext uri="{BB962C8B-B14F-4D97-AF65-F5344CB8AC3E}">
        <p14:creationId xmlns:p14="http://schemas.microsoft.com/office/powerpoint/2010/main" val="1848068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F7CEF-5540-81A7-0824-BAC93C801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533401"/>
            <a:ext cx="9906000" cy="842224"/>
          </a:xfrm>
        </p:spPr>
        <p:txBody>
          <a:bodyPr/>
          <a:lstStyle/>
          <a:p>
            <a:r>
              <a:rPr lang="en-US" dirty="0"/>
              <a:t>Limitations of rag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BBC5EE-EBBF-2569-9422-E2C072252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Zeba Karkhanawala, AWAAI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366F75-58BC-18E7-E9DF-E45F17103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6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4BFFC6A-8BDE-8083-CE83-4EC5C82437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4871" y="1860677"/>
            <a:ext cx="3942160" cy="1784397"/>
          </a:xfrm>
          <a:ln>
            <a:solidFill>
              <a:schemeClr val="accent6">
                <a:lumMod val="75000"/>
              </a:schemeClr>
            </a:solidFill>
          </a:ln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b="1" dirty="0"/>
              <a:t>Data Quality Dependency</a:t>
            </a:r>
          </a:p>
          <a:p>
            <a:pPr marL="0" indent="0" algn="ctr">
              <a:buNone/>
            </a:pPr>
            <a:r>
              <a:rPr lang="en-US" sz="1900" dirty="0"/>
              <a:t>The system's output is only as good as its knowledge base - poor, outdated, or missing data leads to inaccurate or incomplete responses.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EBEA3DB-E329-C94F-F5AB-A93829CD146E}"/>
              </a:ext>
            </a:extLst>
          </p:cNvPr>
          <p:cNvSpPr txBox="1">
            <a:spLocks/>
          </p:cNvSpPr>
          <p:nvPr/>
        </p:nvSpPr>
        <p:spPr>
          <a:xfrm>
            <a:off x="6731059" y="1860677"/>
            <a:ext cx="3942160" cy="1784397"/>
          </a:xfrm>
          <a:prstGeom prst="rect">
            <a:avLst/>
          </a:prstGeom>
          <a:ln>
            <a:solidFill>
              <a:schemeClr val="accent6">
                <a:lumMod val="7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b="1" dirty="0"/>
              <a:t>Computational Overload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900" dirty="0"/>
              <a:t>Requires significant computational resources for both retrieval and generation, causing increased latency and higher operational costs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626E0CA-D5B6-5CE4-EA0E-B14F007808B0}"/>
              </a:ext>
            </a:extLst>
          </p:cNvPr>
          <p:cNvSpPr txBox="1">
            <a:spLocks/>
          </p:cNvSpPr>
          <p:nvPr/>
        </p:nvSpPr>
        <p:spPr>
          <a:xfrm>
            <a:off x="6731059" y="3836355"/>
            <a:ext cx="3942160" cy="1784397"/>
          </a:xfrm>
          <a:prstGeom prst="rect">
            <a:avLst/>
          </a:prstGeom>
          <a:ln>
            <a:solidFill>
              <a:schemeClr val="accent6">
                <a:lumMod val="7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b="1" dirty="0"/>
              <a:t>Context Integration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900" dirty="0"/>
              <a:t>Systems struggle to seamlessly blend retrieved information with generated content, often producing disjointed or incoherent responses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D03E617-B5FC-9A1D-3C23-A7C11DE2FDEE}"/>
              </a:ext>
            </a:extLst>
          </p:cNvPr>
          <p:cNvSpPr txBox="1">
            <a:spLocks/>
          </p:cNvSpPr>
          <p:nvPr/>
        </p:nvSpPr>
        <p:spPr>
          <a:xfrm>
            <a:off x="2044870" y="3836355"/>
            <a:ext cx="3942160" cy="1784397"/>
          </a:xfrm>
          <a:prstGeom prst="rect">
            <a:avLst/>
          </a:prstGeom>
          <a:ln>
            <a:solidFill>
              <a:schemeClr val="accent6">
                <a:lumMod val="7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b="1" dirty="0"/>
              <a:t>Retrieval Accuracy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900" dirty="0"/>
              <a:t>The retrieval component may fail to fetch the most relevant information or misinterpret semantic relationships, leading to irrelevant responses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F0DADB-216A-4440-CBC2-084BCB32A54F}"/>
              </a:ext>
            </a:extLst>
          </p:cNvPr>
          <p:cNvSpPr txBox="1"/>
          <p:nvPr/>
        </p:nvSpPr>
        <p:spPr>
          <a:xfrm>
            <a:off x="5515406" y="5921138"/>
            <a:ext cx="1697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and some more…</a:t>
            </a:r>
          </a:p>
        </p:txBody>
      </p:sp>
    </p:spTree>
    <p:extLst>
      <p:ext uri="{BB962C8B-B14F-4D97-AF65-F5344CB8AC3E}">
        <p14:creationId xmlns:p14="http://schemas.microsoft.com/office/powerpoint/2010/main" val="2711618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7E069-D475-CB42-4D3A-2A939242D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393E5-A850-34F1-5ADE-CC361CB36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225290"/>
            <a:ext cx="9906000" cy="1382156"/>
          </a:xfrm>
        </p:spPr>
        <p:txBody>
          <a:bodyPr/>
          <a:lstStyle/>
          <a:p>
            <a:r>
              <a:rPr lang="en-US" dirty="0"/>
              <a:t>RAG in 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41345F-A78D-253A-E97C-512B1BFEFE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2078" y="2361719"/>
            <a:ext cx="3347113" cy="141944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b="1" dirty="0"/>
              <a:t>Customer Support</a:t>
            </a:r>
          </a:p>
          <a:p>
            <a:pPr marL="0" indent="0" algn="ctr">
              <a:buNone/>
            </a:pPr>
            <a:r>
              <a:rPr lang="en-US" sz="1900" dirty="0"/>
              <a:t>Instant and accurate responses from support documentation or FAQs.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5291C53-EEAD-3129-7084-66B3D9DE13EC}"/>
              </a:ext>
            </a:extLst>
          </p:cNvPr>
          <p:cNvSpPr txBox="1">
            <a:spLocks/>
          </p:cNvSpPr>
          <p:nvPr/>
        </p:nvSpPr>
        <p:spPr>
          <a:xfrm>
            <a:off x="3220512" y="4561702"/>
            <a:ext cx="3347113" cy="14194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b="1" dirty="0"/>
              <a:t>Education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900" dirty="0"/>
              <a:t>Personalized tutoring by fetching information from course materials.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4B4C5C1-89C9-0D5C-5431-F63507894A14}"/>
              </a:ext>
            </a:extLst>
          </p:cNvPr>
          <p:cNvSpPr txBox="1">
            <a:spLocks/>
          </p:cNvSpPr>
          <p:nvPr/>
        </p:nvSpPr>
        <p:spPr>
          <a:xfrm>
            <a:off x="8164735" y="4402917"/>
            <a:ext cx="3347112" cy="141944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b="1" dirty="0"/>
              <a:t>Finance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900" dirty="0"/>
              <a:t>Extracting insights from market reports, financial data, and client queries.</a:t>
            </a:r>
          </a:p>
          <a:p>
            <a:pPr marL="0" indent="0" algn="ctr">
              <a:buNone/>
            </a:pPr>
            <a:endParaRPr lang="en-US" sz="19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344A7-5F1D-1CE7-2026-229284AF074E}"/>
              </a:ext>
            </a:extLst>
          </p:cNvPr>
          <p:cNvSpPr txBox="1"/>
          <p:nvPr/>
        </p:nvSpPr>
        <p:spPr>
          <a:xfrm>
            <a:off x="3028666" y="6139933"/>
            <a:ext cx="61346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hlinkClick r:id="rId2"/>
              </a:rPr>
              <a:t>More Use Cases of RAG</a:t>
            </a:r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766D996-8A64-4A7B-9524-E1A1648BFDAF}"/>
              </a:ext>
            </a:extLst>
          </p:cNvPr>
          <p:cNvSpPr txBox="1">
            <a:spLocks/>
          </p:cNvSpPr>
          <p:nvPr/>
        </p:nvSpPr>
        <p:spPr>
          <a:xfrm>
            <a:off x="5748948" y="2538363"/>
            <a:ext cx="3347113" cy="141944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b="1" dirty="0"/>
              <a:t>Healthcare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900" dirty="0"/>
              <a:t>Medical diagnosis support by retrieving relevant studies and patient records.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4857BCF-7910-FEB5-15FE-620DF1BB21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4147" y="1739967"/>
            <a:ext cx="642977" cy="64297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AA1FFDF-23DD-8BAF-59C6-F5CCF1D967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1017" y="1739967"/>
            <a:ext cx="642977" cy="64297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9D308C8-45B4-B39B-DFC5-39A5577557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581" y="3759940"/>
            <a:ext cx="642977" cy="64297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34C397D-C6F1-309D-1D31-F62121D181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6137" y="3625655"/>
            <a:ext cx="664308" cy="664308"/>
          </a:xfrm>
          <a:prstGeom prst="rect">
            <a:avLst/>
          </a:prstGeom>
        </p:spPr>
      </p:pic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89E6E363-0386-70F7-9772-E8416E957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Zeba Karkhanawala, AWAAI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14BD4987-C482-4793-3BC4-DF2A1C069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463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8" grpId="0"/>
      <p:bldP spid="11" grpId="0"/>
      <p:bldP spid="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95067-C1ED-8AC1-42E7-3B158309C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99" y="115600"/>
            <a:ext cx="9906000" cy="1382156"/>
          </a:xfrm>
        </p:spPr>
        <p:txBody>
          <a:bodyPr/>
          <a:lstStyle/>
          <a:p>
            <a:r>
              <a:rPr lang="en-US" dirty="0" err="1">
                <a:solidFill>
                  <a:srgbClr val="B4B0FF"/>
                </a:solidFill>
              </a:rPr>
              <a:t>Intripid</a:t>
            </a:r>
            <a:endParaRPr lang="en-US" dirty="0">
              <a:solidFill>
                <a:srgbClr val="B4B0FF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91648A-843E-49C6-3392-4C165681D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Zeba Karkhanawala, AWAAI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CE2467-EFD3-F37A-45F0-AAEA964BF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8</a:t>
            </a:fld>
            <a:endParaRPr lang="en-US"/>
          </a:p>
        </p:txBody>
      </p:sp>
      <p:pic>
        <p:nvPicPr>
          <p:cNvPr id="8" name="Picture 7" descr="A diagram of a company's multi-ethnic rag architecture&#10;&#10;Description automatically generated with medium confidence">
            <a:extLst>
              <a:ext uri="{FF2B5EF4-FFF2-40B4-BE49-F238E27FC236}">
                <a16:creationId xmlns:a16="http://schemas.microsoft.com/office/drawing/2014/main" id="{90F37F92-7BD4-5F86-CF5B-2F04F3590F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2731" r="3531" b="5069"/>
          <a:stretch/>
        </p:blipFill>
        <p:spPr>
          <a:xfrm>
            <a:off x="4132825" y="2200868"/>
            <a:ext cx="7616957" cy="273326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BB32A6A-5B5C-5861-F097-CD08D84340E7}"/>
              </a:ext>
            </a:extLst>
          </p:cNvPr>
          <p:cNvSpPr txBox="1"/>
          <p:nvPr/>
        </p:nvSpPr>
        <p:spPr>
          <a:xfrm>
            <a:off x="1142999" y="1720840"/>
            <a:ext cx="337164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Intripid</a:t>
            </a:r>
            <a:r>
              <a:rPr lang="en-US" dirty="0"/>
              <a:t>, is an AI-powered travel planner. Based on your personality and your preferences it creates a travel itinerary for you for your trip.</a:t>
            </a:r>
          </a:p>
          <a:p>
            <a:endParaRPr lang="en-US" dirty="0"/>
          </a:p>
          <a:p>
            <a:r>
              <a:rPr lang="en-US" dirty="0"/>
              <a:t>What’s Next? is a website where you put your location and your preferences, and it will suggest you a place to go next.</a:t>
            </a:r>
          </a:p>
          <a:p>
            <a:endParaRPr lang="en-US" dirty="0"/>
          </a:p>
          <a:p>
            <a:r>
              <a:rPr lang="en-US" dirty="0"/>
              <a:t>What’s Next? </a:t>
            </a:r>
            <a:r>
              <a:rPr lang="en-US" dirty="0">
                <a:hlinkClick r:id="rId3"/>
              </a:rPr>
              <a:t>https://dev.intripid.co/whats-next</a:t>
            </a:r>
            <a:r>
              <a:rPr lang="en-US" dirty="0"/>
              <a:t> </a:t>
            </a:r>
          </a:p>
          <a:p>
            <a:r>
              <a:rPr lang="en-US" dirty="0"/>
              <a:t>(open on mobile)</a:t>
            </a:r>
          </a:p>
        </p:txBody>
      </p:sp>
    </p:spTree>
    <p:extLst>
      <p:ext uri="{BB962C8B-B14F-4D97-AF65-F5344CB8AC3E}">
        <p14:creationId xmlns:p14="http://schemas.microsoft.com/office/powerpoint/2010/main" val="38993852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C53F1-283E-19A7-2266-7E0D7C79F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Industry level rag implementation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AADA17-9445-B396-5BEC-26F266F97C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3468334"/>
            <a:ext cx="4136451" cy="1750134"/>
          </a:xfrm>
          <a:ln>
            <a:solidFill>
              <a:schemeClr val="tx1"/>
            </a:solidFill>
          </a:ln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chemeClr val="accent3">
                    <a:lumMod val="7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Shopify Sendbird AI Chatbot using RAG to query Shopify's data</a:t>
            </a:r>
            <a:endParaRPr lang="en-US" sz="20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4FA978-28F6-D653-1FA7-CC365AFED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Zeba Karkhanawala, AWAAI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2F3145-250C-EF4B-5430-28E714089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9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A0CBA70-09AF-793F-3B19-0C5F102CD25F}"/>
              </a:ext>
            </a:extLst>
          </p:cNvPr>
          <p:cNvSpPr txBox="1">
            <a:spLocks/>
          </p:cNvSpPr>
          <p:nvPr/>
        </p:nvSpPr>
        <p:spPr>
          <a:xfrm>
            <a:off x="6736956" y="3468333"/>
            <a:ext cx="4136452" cy="175013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dirty="0">
                <a:solidFill>
                  <a:schemeClr val="accent3">
                    <a:lumMod val="7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Morgan Stanley's RAG Architecture for Wealth Management</a:t>
            </a:r>
            <a:endParaRPr lang="en-US" sz="20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789F9C-BDF5-9E00-6383-F98A1B73C73A}"/>
              </a:ext>
            </a:extLst>
          </p:cNvPr>
          <p:cNvSpPr txBox="1"/>
          <p:nvPr/>
        </p:nvSpPr>
        <p:spPr>
          <a:xfrm>
            <a:off x="3654466" y="6127975"/>
            <a:ext cx="48830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Read more: </a:t>
            </a:r>
            <a:r>
              <a:rPr lang="en-US" sz="1200" dirty="0">
                <a:hlinkClick r:id="rId4"/>
              </a:rPr>
              <a:t>https://www.projectpro.io/article/rag-use-cases-and-applications/1059</a:t>
            </a:r>
            <a:r>
              <a:rPr lang="en-US" sz="1200" dirty="0"/>
              <a:t>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174C824-8C4A-5BC5-3285-E3589D09B57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026" t="14362" r="77471" b="76975"/>
          <a:stretch/>
        </p:blipFill>
        <p:spPr>
          <a:xfrm>
            <a:off x="1143001" y="2265426"/>
            <a:ext cx="3945834" cy="1138402"/>
          </a:xfrm>
          <a:prstGeom prst="rect">
            <a:avLst/>
          </a:prstGeom>
        </p:spPr>
      </p:pic>
      <p:pic>
        <p:nvPicPr>
          <p:cNvPr id="1026" name="Picture 2" descr="Morgan Stanley - YouTube">
            <a:extLst>
              <a:ext uri="{FF2B5EF4-FFF2-40B4-BE49-F238E27FC236}">
                <a16:creationId xmlns:a16="http://schemas.microsoft.com/office/drawing/2014/main" id="{D44A1A29-66E9-39D7-6568-004E5D7480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4038" y="2208142"/>
            <a:ext cx="1064924" cy="1064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OpenAI Logo, symbol, meaning, history ...">
            <a:extLst>
              <a:ext uri="{FF2B5EF4-FFF2-40B4-BE49-F238E27FC236}">
                <a16:creationId xmlns:a16="http://schemas.microsoft.com/office/drawing/2014/main" id="{C5F83BD2-8514-1C57-3F51-8A16BF23CB0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381" r="522" b="21499"/>
          <a:stretch/>
        </p:blipFill>
        <p:spPr bwMode="auto">
          <a:xfrm>
            <a:off x="8668528" y="2498757"/>
            <a:ext cx="2204880" cy="671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14620C8-1661-0B85-6332-B057EB3E9E79}"/>
              </a:ext>
            </a:extLst>
          </p:cNvPr>
          <p:cNvSpPr txBox="1"/>
          <p:nvPr/>
        </p:nvSpPr>
        <p:spPr>
          <a:xfrm>
            <a:off x="8080156" y="2462973"/>
            <a:ext cx="3971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3327122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12" grpId="0"/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C7D17A-F709-E4A9-45E4-1F05D1345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Zeba Karkhanawala, AWAAI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136BA3-3C08-E67B-F011-ECDF4FCE9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10</a:t>
            </a:fld>
            <a:endParaRPr lang="en-US"/>
          </a:p>
        </p:txBody>
      </p:sp>
      <p:pic>
        <p:nvPicPr>
          <p:cNvPr id="6" name="Picture 6" descr="Refer to caption">
            <a:extLst>
              <a:ext uri="{FF2B5EF4-FFF2-40B4-BE49-F238E27FC236}">
                <a16:creationId xmlns:a16="http://schemas.microsoft.com/office/drawing/2014/main" id="{E341945E-7099-C07D-3B36-3C994D77AC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2973" y="1398123"/>
            <a:ext cx="9246053" cy="4833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1EA86C9-7466-934B-8466-5158D2F30C9F}"/>
              </a:ext>
            </a:extLst>
          </p:cNvPr>
          <p:cNvSpPr txBox="1">
            <a:spLocks/>
          </p:cNvSpPr>
          <p:nvPr/>
        </p:nvSpPr>
        <p:spPr>
          <a:xfrm>
            <a:off x="2063910" y="763941"/>
            <a:ext cx="8064179" cy="46521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dirty="0">
                <a:solidFill>
                  <a:schemeClr val="accent3">
                    <a:lumMod val="7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RAMO: Retrieval-Augmented Generation for Enhancing MOOCs Recommendations</a:t>
            </a:r>
            <a:endParaRPr lang="en-US" sz="2000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57872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49DE0380-31D4-1B45-137B-B167C11C5528}"/>
              </a:ext>
            </a:extLst>
          </p:cNvPr>
          <p:cNvSpPr>
            <a:spLocks/>
          </p:cNvSpPr>
          <p:nvPr/>
        </p:nvSpPr>
        <p:spPr>
          <a:xfrm>
            <a:off x="189858" y="1254749"/>
            <a:ext cx="11812284" cy="4929808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A758E3-5BFF-CE03-9E39-2349261FA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Zeba Karkhanawala, AWAAI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91A948-0E7E-9D80-5B75-D44CD1642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11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4F88C48-197D-D20A-E0EF-7F2A7EB67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400188"/>
            <a:ext cx="9906000" cy="671316"/>
          </a:xfrm>
        </p:spPr>
        <p:txBody>
          <a:bodyPr>
            <a:normAutofit fontScale="90000"/>
          </a:bodyPr>
          <a:lstStyle/>
          <a:p>
            <a:r>
              <a:rPr lang="en-US" dirty="0"/>
              <a:t>Tech stack for rag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18D97CF-083C-EB48-67F6-505687EB825B}"/>
              </a:ext>
            </a:extLst>
          </p:cNvPr>
          <p:cNvSpPr/>
          <p:nvPr/>
        </p:nvSpPr>
        <p:spPr>
          <a:xfrm>
            <a:off x="298174" y="3837895"/>
            <a:ext cx="1689652" cy="626165"/>
          </a:xfrm>
          <a:prstGeom prst="roundRect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User</a:t>
            </a:r>
            <a:r>
              <a:rPr lang="en-US" dirty="0"/>
              <a:t> </a:t>
            </a:r>
            <a:r>
              <a:rPr lang="en-US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Query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BB46E14-CEF8-A04B-320D-5E272589E071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1987826" y="4150976"/>
            <a:ext cx="681293" cy="2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E8B9256-AD31-D170-82E5-75D9AAB3A3EF}"/>
              </a:ext>
            </a:extLst>
          </p:cNvPr>
          <p:cNvSpPr/>
          <p:nvPr/>
        </p:nvSpPr>
        <p:spPr>
          <a:xfrm>
            <a:off x="5203596" y="3817725"/>
            <a:ext cx="1689652" cy="626165"/>
          </a:xfrm>
          <a:prstGeom prst="roundRect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Retrieved Documents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516FDC7-F95C-6DA6-1639-D9148E6F76C2}"/>
              </a:ext>
            </a:extLst>
          </p:cNvPr>
          <p:cNvCxnSpPr>
            <a:cxnSpLocks/>
          </p:cNvCxnSpPr>
          <p:nvPr/>
        </p:nvCxnSpPr>
        <p:spPr>
          <a:xfrm flipV="1">
            <a:off x="4871442" y="4145096"/>
            <a:ext cx="332154" cy="588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D331951A-DA6E-A55E-8752-A18DC43FF2B3}"/>
              </a:ext>
            </a:extLst>
          </p:cNvPr>
          <p:cNvSpPr/>
          <p:nvPr/>
        </p:nvSpPr>
        <p:spPr>
          <a:xfrm>
            <a:off x="5203596" y="5152578"/>
            <a:ext cx="1689652" cy="626165"/>
          </a:xfrm>
          <a:prstGeom prst="roundRect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Augmented Prompt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3DD7B38-F564-4463-FEDC-E7DD407B63E3}"/>
              </a:ext>
            </a:extLst>
          </p:cNvPr>
          <p:cNvCxnSpPr>
            <a:cxnSpLocks/>
            <a:stCxn id="17" idx="2"/>
            <a:endCxn id="23" idx="0"/>
          </p:cNvCxnSpPr>
          <p:nvPr/>
        </p:nvCxnSpPr>
        <p:spPr>
          <a:xfrm>
            <a:off x="6048422" y="4443890"/>
            <a:ext cx="0" cy="708688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Elbow Connector 28">
            <a:extLst>
              <a:ext uri="{FF2B5EF4-FFF2-40B4-BE49-F238E27FC236}">
                <a16:creationId xmlns:a16="http://schemas.microsoft.com/office/drawing/2014/main" id="{210162A4-C5F8-1B19-9A42-DFDFAD703D93}"/>
              </a:ext>
            </a:extLst>
          </p:cNvPr>
          <p:cNvCxnSpPr>
            <a:stCxn id="7" idx="2"/>
            <a:endCxn id="23" idx="1"/>
          </p:cNvCxnSpPr>
          <p:nvPr/>
        </p:nvCxnSpPr>
        <p:spPr>
          <a:xfrm rot="16200000" flipH="1">
            <a:off x="2672498" y="2934562"/>
            <a:ext cx="1001601" cy="4060596"/>
          </a:xfrm>
          <a:prstGeom prst="bentConnector2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21BAB0B7-9D3E-6B1F-4DFB-617745473B4C}"/>
              </a:ext>
            </a:extLst>
          </p:cNvPr>
          <p:cNvSpPr/>
          <p:nvPr/>
        </p:nvSpPr>
        <p:spPr>
          <a:xfrm>
            <a:off x="10109289" y="5156850"/>
            <a:ext cx="1689652" cy="626165"/>
          </a:xfrm>
          <a:prstGeom prst="roundRect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Output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E9483245-2969-6CB7-B8E2-24C68DCBFF8B}"/>
              </a:ext>
            </a:extLst>
          </p:cNvPr>
          <p:cNvCxnSpPr>
            <a:cxnSpLocks/>
            <a:stCxn id="97" idx="3"/>
            <a:endCxn id="34" idx="1"/>
          </p:cNvCxnSpPr>
          <p:nvPr/>
        </p:nvCxnSpPr>
        <p:spPr>
          <a:xfrm>
            <a:off x="9525639" y="5465660"/>
            <a:ext cx="583650" cy="4273"/>
          </a:xfrm>
          <a:prstGeom prst="straightConnector1">
            <a:avLst/>
          </a:prstGeom>
          <a:ln w="12700"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5AD2E4E2-5457-9922-A513-2E0BF9176EBB}"/>
              </a:ext>
            </a:extLst>
          </p:cNvPr>
          <p:cNvCxnSpPr>
            <a:cxnSpLocks/>
            <a:stCxn id="81" idx="3"/>
            <a:endCxn id="85" idx="1"/>
          </p:cNvCxnSpPr>
          <p:nvPr/>
        </p:nvCxnSpPr>
        <p:spPr>
          <a:xfrm flipV="1">
            <a:off x="2619214" y="2097390"/>
            <a:ext cx="452531" cy="120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C1308F7B-9435-DFA2-2BFD-51F4D5393D01}"/>
              </a:ext>
            </a:extLst>
          </p:cNvPr>
          <p:cNvCxnSpPr>
            <a:cxnSpLocks/>
            <a:endCxn id="63" idx="0"/>
          </p:cNvCxnSpPr>
          <p:nvPr/>
        </p:nvCxnSpPr>
        <p:spPr>
          <a:xfrm flipH="1">
            <a:off x="3595846" y="2637800"/>
            <a:ext cx="627052" cy="1081853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101D7197-6B5F-96DE-42BF-A2D9349F5024}"/>
              </a:ext>
            </a:extLst>
          </p:cNvPr>
          <p:cNvSpPr/>
          <p:nvPr/>
        </p:nvSpPr>
        <p:spPr>
          <a:xfrm>
            <a:off x="2320249" y="3719653"/>
            <a:ext cx="2551193" cy="1234483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Vector</a:t>
            </a:r>
            <a:r>
              <a:rPr lang="en-US" sz="1200" dirty="0"/>
              <a:t> </a:t>
            </a:r>
            <a:r>
              <a:rPr lang="en-US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Stores</a:t>
            </a: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1514B47-07D0-7E82-A81E-A7D892C4F3FC}"/>
              </a:ext>
            </a:extLst>
          </p:cNvPr>
          <p:cNvCxnSpPr>
            <a:cxnSpLocks/>
            <a:stCxn id="23" idx="3"/>
            <a:endCxn id="97" idx="1"/>
          </p:cNvCxnSpPr>
          <p:nvPr/>
        </p:nvCxnSpPr>
        <p:spPr>
          <a:xfrm flipV="1">
            <a:off x="6893248" y="5465660"/>
            <a:ext cx="476169" cy="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26" name="Picture 2" descr="Pinecone Vector Database: A Complete ...">
            <a:extLst>
              <a:ext uri="{FF2B5EF4-FFF2-40B4-BE49-F238E27FC236}">
                <a16:creationId xmlns:a16="http://schemas.microsoft.com/office/drawing/2014/main" id="{66514858-DF24-7C67-4C4F-1966D5A5F40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837" r="11185" b="22021"/>
          <a:stretch/>
        </p:blipFill>
        <p:spPr bwMode="auto">
          <a:xfrm>
            <a:off x="2403086" y="4022722"/>
            <a:ext cx="1025914" cy="252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Weaviate - Battery Ventures">
            <a:extLst>
              <a:ext uri="{FF2B5EF4-FFF2-40B4-BE49-F238E27FC236}">
                <a16:creationId xmlns:a16="http://schemas.microsoft.com/office/drawing/2014/main" id="{FE296DAD-5679-8E3E-E646-F85F7D9508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6998" y="3765003"/>
            <a:ext cx="1656599" cy="877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ChromaDB: An Overview. ChromaDB is a powerful vector database… | by VIKRANT  SINGH | Medium">
            <a:extLst>
              <a:ext uri="{FF2B5EF4-FFF2-40B4-BE49-F238E27FC236}">
                <a16:creationId xmlns:a16="http://schemas.microsoft.com/office/drawing/2014/main" id="{E08D2FAA-667C-C11B-A266-7466EE88BB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6133" y="4272279"/>
            <a:ext cx="591795" cy="558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Microsoft Azure Marketplace">
            <a:extLst>
              <a:ext uri="{FF2B5EF4-FFF2-40B4-BE49-F238E27FC236}">
                <a16:creationId xmlns:a16="http://schemas.microsoft.com/office/drawing/2014/main" id="{4F4701D8-BD3F-75C6-23E3-D4790E6949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9615" y="4265484"/>
            <a:ext cx="601097" cy="6010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E45F6D62-CD95-EF1C-CAA6-135C3F4997FB}"/>
              </a:ext>
            </a:extLst>
          </p:cNvPr>
          <p:cNvSpPr/>
          <p:nvPr/>
        </p:nvSpPr>
        <p:spPr>
          <a:xfrm>
            <a:off x="462992" y="1569020"/>
            <a:ext cx="2156222" cy="1080818"/>
          </a:xfrm>
          <a:prstGeom prst="roundRect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Data Store</a:t>
            </a:r>
          </a:p>
        </p:txBody>
      </p:sp>
      <p:pic>
        <p:nvPicPr>
          <p:cNvPr id="83" name="Picture 82" descr="A group of logos with text&#10;&#10;Description automatically generated">
            <a:extLst>
              <a:ext uri="{FF2B5EF4-FFF2-40B4-BE49-F238E27FC236}">
                <a16:creationId xmlns:a16="http://schemas.microsoft.com/office/drawing/2014/main" id="{442E286C-7984-200C-AA74-6E25057540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621" y="1892050"/>
            <a:ext cx="1737465" cy="673753"/>
          </a:xfrm>
          <a:prstGeom prst="rect">
            <a:avLst/>
          </a:prstGeom>
        </p:spPr>
      </p:pic>
      <p:sp>
        <p:nvSpPr>
          <p:cNvPr id="85" name="Rounded Rectangle 84">
            <a:extLst>
              <a:ext uri="{FF2B5EF4-FFF2-40B4-BE49-F238E27FC236}">
                <a16:creationId xmlns:a16="http://schemas.microsoft.com/office/drawing/2014/main" id="{275CC6A7-0D9A-6744-3DDF-DFAF7E09819B}"/>
              </a:ext>
            </a:extLst>
          </p:cNvPr>
          <p:cNvSpPr/>
          <p:nvPr/>
        </p:nvSpPr>
        <p:spPr>
          <a:xfrm>
            <a:off x="3071745" y="1556981"/>
            <a:ext cx="2156222" cy="1080818"/>
          </a:xfrm>
          <a:prstGeom prst="roundRect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Vector Embedding Models</a:t>
            </a:r>
          </a:p>
        </p:txBody>
      </p:sp>
      <p:pic>
        <p:nvPicPr>
          <p:cNvPr id="90" name="Picture 89" descr="A close-up of a logo&#10;&#10;Description automatically generated">
            <a:extLst>
              <a:ext uri="{FF2B5EF4-FFF2-40B4-BE49-F238E27FC236}">
                <a16:creationId xmlns:a16="http://schemas.microsoft.com/office/drawing/2014/main" id="{0EC81339-A631-6915-CA95-837BD338ECA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73298" y="1873574"/>
            <a:ext cx="1987826" cy="713024"/>
          </a:xfrm>
          <a:prstGeom prst="rect">
            <a:avLst/>
          </a:prstGeom>
        </p:spPr>
      </p:pic>
      <p:sp>
        <p:nvSpPr>
          <p:cNvPr id="91" name="Rounded Rectangle 90">
            <a:extLst>
              <a:ext uri="{FF2B5EF4-FFF2-40B4-BE49-F238E27FC236}">
                <a16:creationId xmlns:a16="http://schemas.microsoft.com/office/drawing/2014/main" id="{353EA6F6-8898-C566-9BAC-8874776BF83C}"/>
              </a:ext>
            </a:extLst>
          </p:cNvPr>
          <p:cNvSpPr/>
          <p:nvPr/>
        </p:nvSpPr>
        <p:spPr>
          <a:xfrm>
            <a:off x="9022497" y="1530297"/>
            <a:ext cx="2663075" cy="1304959"/>
          </a:xfrm>
          <a:prstGeom prst="roundRect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LLM Frameworks</a:t>
            </a:r>
          </a:p>
        </p:txBody>
      </p: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id="{55676029-1C79-01AC-56C3-C0D7E71E05A1}"/>
              </a:ext>
            </a:extLst>
          </p:cNvPr>
          <p:cNvSpPr/>
          <p:nvPr/>
        </p:nvSpPr>
        <p:spPr>
          <a:xfrm>
            <a:off x="9022498" y="2916523"/>
            <a:ext cx="2663076" cy="1304959"/>
          </a:xfrm>
          <a:prstGeom prst="roundRect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Evaluation &amp; Monitoring</a:t>
            </a:r>
          </a:p>
        </p:txBody>
      </p:sp>
      <p:pic>
        <p:nvPicPr>
          <p:cNvPr id="94" name="Picture 93" descr="A group of logos with text&#10;&#10;Description automatically generated">
            <a:extLst>
              <a:ext uri="{FF2B5EF4-FFF2-40B4-BE49-F238E27FC236}">
                <a16:creationId xmlns:a16="http://schemas.microsoft.com/office/drawing/2014/main" id="{4144546F-9D9D-AA76-6785-92C518373CD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71815" y="3259062"/>
            <a:ext cx="2392591" cy="900740"/>
          </a:xfrm>
          <a:prstGeom prst="rect">
            <a:avLst/>
          </a:prstGeom>
        </p:spPr>
      </p:pic>
      <p:pic>
        <p:nvPicPr>
          <p:cNvPr id="96" name="Picture 95" descr="A group of logos with different colors&#10;&#10;Description automatically generated">
            <a:extLst>
              <a:ext uri="{FF2B5EF4-FFF2-40B4-BE49-F238E27FC236}">
                <a16:creationId xmlns:a16="http://schemas.microsoft.com/office/drawing/2014/main" id="{9C97D41A-5A00-932F-B6BF-B3A357FBC98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71815" y="1877185"/>
            <a:ext cx="2392591" cy="879572"/>
          </a:xfrm>
          <a:prstGeom prst="rect">
            <a:avLst/>
          </a:prstGeom>
        </p:spPr>
      </p:pic>
      <p:sp>
        <p:nvSpPr>
          <p:cNvPr id="97" name="Rounded Rectangle 96">
            <a:extLst>
              <a:ext uri="{FF2B5EF4-FFF2-40B4-BE49-F238E27FC236}">
                <a16:creationId xmlns:a16="http://schemas.microsoft.com/office/drawing/2014/main" id="{8B4D5107-A191-485F-7F99-179F85CBAC3A}"/>
              </a:ext>
            </a:extLst>
          </p:cNvPr>
          <p:cNvSpPr/>
          <p:nvPr/>
        </p:nvSpPr>
        <p:spPr>
          <a:xfrm>
            <a:off x="7369417" y="4925251"/>
            <a:ext cx="2156222" cy="1080818"/>
          </a:xfrm>
          <a:prstGeom prst="roundRect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Large Language Models</a:t>
            </a:r>
          </a:p>
        </p:txBody>
      </p:sp>
      <p:pic>
        <p:nvPicPr>
          <p:cNvPr id="99" name="Picture 98" descr="A group of logos with black text&#10;&#10;Description automatically generated">
            <a:extLst>
              <a:ext uri="{FF2B5EF4-FFF2-40B4-BE49-F238E27FC236}">
                <a16:creationId xmlns:a16="http://schemas.microsoft.com/office/drawing/2014/main" id="{C08C082C-042A-162E-018C-1459D3881F6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14368" y="5283236"/>
            <a:ext cx="1800421" cy="66789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8D3E695-190C-0A48-A934-4C4DA854DB00}"/>
              </a:ext>
            </a:extLst>
          </p:cNvPr>
          <p:cNvSpPr txBox="1"/>
          <p:nvPr/>
        </p:nvSpPr>
        <p:spPr>
          <a:xfrm>
            <a:off x="5377285" y="1611913"/>
            <a:ext cx="233502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solidFill>
                  <a:schemeClr val="bg2">
                    <a:lumMod val="50000"/>
                  </a:schemeClr>
                </a:solidFill>
              </a:rPr>
              <a:t>Data, stored in raw format in the Data Store is then converted to vector embeddings, stored in a Vector Store by passing through Vector Embedding Models.</a:t>
            </a:r>
          </a:p>
        </p:txBody>
      </p:sp>
    </p:spTree>
    <p:extLst>
      <p:ext uri="{BB962C8B-B14F-4D97-AF65-F5344CB8AC3E}">
        <p14:creationId xmlns:p14="http://schemas.microsoft.com/office/powerpoint/2010/main" val="18414470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D270E-E602-114C-49DC-B7DB39FE2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Rag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589C90-3DF2-BB0E-1C18-ACF5CFD140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685353"/>
            <a:ext cx="9980629" cy="1029567"/>
          </a:xfrm>
          <a:solidFill>
            <a:schemeClr val="accent2">
              <a:lumMod val="60000"/>
              <a:lumOff val="40000"/>
            </a:schemeClr>
          </a:solidFill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2600" b="1" dirty="0"/>
              <a:t>Context Relevance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900" dirty="0"/>
              <a:t>Measures how well retrieved documents align with the user's query. High context relevance indicates the system is fetching the most appropriate information needed to answer the question.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B957F0-C3E3-C98F-F2F2-224224162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Zeba Karkhanawala, AWAAI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DA6E95-96AE-B68B-D122-A912A5EC4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12</a:t>
            </a:fld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EDAB6A8-BE17-3174-5C9E-5CA9E6F695E6}"/>
              </a:ext>
            </a:extLst>
          </p:cNvPr>
          <p:cNvSpPr txBox="1">
            <a:spLocks/>
          </p:cNvSpPr>
          <p:nvPr/>
        </p:nvSpPr>
        <p:spPr>
          <a:xfrm>
            <a:off x="1142999" y="3067509"/>
            <a:ext cx="9980629" cy="102956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sz="2600" b="1" dirty="0"/>
              <a:t>Answer Relevance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900" dirty="0"/>
              <a:t>Assesses if the final response directly addresses the user’s question with appropriate information. It measures both semantic alignment and completeness of the answer relative to the query.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5452283-ACC9-7089-B05F-D3DD6D41AFCE}"/>
              </a:ext>
            </a:extLst>
          </p:cNvPr>
          <p:cNvSpPr txBox="1">
            <a:spLocks/>
          </p:cNvSpPr>
          <p:nvPr/>
        </p:nvSpPr>
        <p:spPr>
          <a:xfrm>
            <a:off x="1142999" y="4449665"/>
            <a:ext cx="9980629" cy="102956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sz="2600" b="1" dirty="0" err="1"/>
              <a:t>Groundedness</a:t>
            </a:r>
            <a:r>
              <a:rPr lang="en-US" sz="2600" b="1" dirty="0"/>
              <a:t>/Faithfulness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900" dirty="0"/>
              <a:t>Evaluates if the generated response is factually supported by the retrieved context, ensuring every statement can be traced back to source documents. This prevents hallucination and maintain factual accuracy.</a:t>
            </a:r>
          </a:p>
        </p:txBody>
      </p:sp>
    </p:spTree>
    <p:extLst>
      <p:ext uri="{BB962C8B-B14F-4D97-AF65-F5344CB8AC3E}">
        <p14:creationId xmlns:p14="http://schemas.microsoft.com/office/powerpoint/2010/main" val="221654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0" grpId="0" animBg="1"/>
      <p:bldP spid="1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22AFF-1568-27FB-8920-0876BE6AE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211655"/>
            <a:ext cx="9906000" cy="1382156"/>
          </a:xfrm>
        </p:spPr>
        <p:txBody>
          <a:bodyPr/>
          <a:lstStyle/>
          <a:p>
            <a:r>
              <a:rPr lang="en-US" dirty="0"/>
              <a:t>Improving the RAG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7C8672-76CA-0FAE-C81A-F6A0DCFE84D8}"/>
              </a:ext>
            </a:extLst>
          </p:cNvPr>
          <p:cNvSpPr txBox="1"/>
          <p:nvPr/>
        </p:nvSpPr>
        <p:spPr>
          <a:xfrm>
            <a:off x="3693187" y="6029546"/>
            <a:ext cx="54609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hlinkClick r:id="rId2"/>
              </a:rPr>
              <a:t>Watch this video to understand the above diagram</a:t>
            </a:r>
            <a:endParaRPr lang="en-US" dirty="0"/>
          </a:p>
        </p:txBody>
      </p:sp>
      <p:pic>
        <p:nvPicPr>
          <p:cNvPr id="7" name="Picture 6" descr="A diagram of a process&#10;&#10;Description automatically generated">
            <a:extLst>
              <a:ext uri="{FF2B5EF4-FFF2-40B4-BE49-F238E27FC236}">
                <a16:creationId xmlns:a16="http://schemas.microsoft.com/office/drawing/2014/main" id="{791C1824-AE07-50FA-6632-AE6CA56C04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4256" y="1184822"/>
            <a:ext cx="6403488" cy="4781176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6C37C9-8E43-B94D-2E84-05BBB28D3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Zeba Karkhanawala, AWAAI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8BE750-0C1E-24E0-46C5-87E015959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5570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19AD2-7049-58AD-7668-09E0AE3F2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That’s not it…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5E9E29-0CB9-232D-4EEB-4AED7337A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Zeba Karkhanawala, AWAAI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B291E6-610A-35C5-043A-F043FDD6F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14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42575C-0F15-3CF1-DF17-1846D5089F15}"/>
              </a:ext>
            </a:extLst>
          </p:cNvPr>
          <p:cNvSpPr txBox="1"/>
          <p:nvPr/>
        </p:nvSpPr>
        <p:spPr>
          <a:xfrm>
            <a:off x="1927921" y="2026763"/>
            <a:ext cx="3365024" cy="646331"/>
          </a:xfrm>
          <a:prstGeom prst="rect">
            <a:avLst/>
          </a:prstGeom>
          <a:solidFill>
            <a:srgbClr val="F3F3AA"/>
          </a:solidFill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ACADEMY ENGRAVED LET PLAIN:1.0" panose="02000000000000000000" pitchFamily="2" charset="0"/>
              </a:rPr>
              <a:t>Corrective RAG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BC6FE3-ECDE-CE9E-FB7F-20C63648A636}"/>
              </a:ext>
            </a:extLst>
          </p:cNvPr>
          <p:cNvSpPr txBox="1"/>
          <p:nvPr/>
        </p:nvSpPr>
        <p:spPr>
          <a:xfrm>
            <a:off x="2716143" y="2836868"/>
            <a:ext cx="3526928" cy="6463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ACADEMY ENGRAVED LET PLAIN:1.0" panose="02000000000000000000" pitchFamily="2" charset="0"/>
              </a:rPr>
              <a:t>Speculative RAG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E3F970-59C8-AF6D-9CA3-053DE756501D}"/>
              </a:ext>
            </a:extLst>
          </p:cNvPr>
          <p:cNvSpPr txBox="1"/>
          <p:nvPr/>
        </p:nvSpPr>
        <p:spPr>
          <a:xfrm>
            <a:off x="7296061" y="2200982"/>
            <a:ext cx="2706190" cy="646331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ACADEMY ENGRAVED LET PLAIN:1.0" panose="02000000000000000000" pitchFamily="2" charset="0"/>
              </a:rPr>
              <a:t>Fusion RAG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112A9B-B4C0-2645-C593-954EDF4556C6}"/>
              </a:ext>
            </a:extLst>
          </p:cNvPr>
          <p:cNvSpPr txBox="1"/>
          <p:nvPr/>
        </p:nvSpPr>
        <p:spPr>
          <a:xfrm>
            <a:off x="5697493" y="1863515"/>
            <a:ext cx="1455848" cy="769441"/>
          </a:xfrm>
          <a:prstGeom prst="rect">
            <a:avLst/>
          </a:prstGeom>
          <a:solidFill>
            <a:srgbClr val="D7EB84"/>
          </a:solidFill>
        </p:spPr>
        <p:txBody>
          <a:bodyPr wrap="none" rtlCol="0">
            <a:spAutoFit/>
          </a:bodyPr>
          <a:lstStyle/>
          <a:p>
            <a:r>
              <a:rPr lang="en-US" sz="4400" dirty="0">
                <a:latin typeface="ACADEMY ENGRAVED LET PLAIN:1.0" panose="02000000000000000000" pitchFamily="2" charset="0"/>
              </a:rPr>
              <a:t>CAG</a:t>
            </a:r>
            <a:endParaRPr lang="en-US" sz="3600" dirty="0">
              <a:latin typeface="ACADEMY ENGRAVED LET PLAIN:1.0" panose="020000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4472C3-0CA1-A495-83F5-CF7D3A13EA2E}"/>
              </a:ext>
            </a:extLst>
          </p:cNvPr>
          <p:cNvSpPr txBox="1"/>
          <p:nvPr/>
        </p:nvSpPr>
        <p:spPr>
          <a:xfrm>
            <a:off x="4281384" y="3708002"/>
            <a:ext cx="2109873" cy="64633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ACADEMY ENGRAVED LET PLAIN:1.0" panose="02000000000000000000" pitchFamily="2" charset="0"/>
              </a:rPr>
              <a:t>Self RAG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134975-AE25-5F9B-95C1-702A2F543390}"/>
              </a:ext>
            </a:extLst>
          </p:cNvPr>
          <p:cNvSpPr txBox="1"/>
          <p:nvPr/>
        </p:nvSpPr>
        <p:spPr>
          <a:xfrm>
            <a:off x="6539444" y="3917308"/>
            <a:ext cx="4219425" cy="9233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5400" dirty="0">
                <a:latin typeface="ACADEMY ENGRAVED LET PLAIN:1.0" panose="02000000000000000000" pitchFamily="2" charset="0"/>
              </a:rPr>
              <a:t>Agentic RAG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36AAEF-F368-835C-FC1F-DD91111515A3}"/>
              </a:ext>
            </a:extLst>
          </p:cNvPr>
          <p:cNvSpPr txBox="1"/>
          <p:nvPr/>
        </p:nvSpPr>
        <p:spPr>
          <a:xfrm>
            <a:off x="6539444" y="3061671"/>
            <a:ext cx="2648482" cy="64633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ACADEMY ENGRAVED LET PLAIN:1.0" panose="02000000000000000000" pitchFamily="2" charset="0"/>
              </a:rPr>
              <a:t>Graph RAG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23CD204-F9DA-7A1A-4F42-7DAD307E12C2}"/>
              </a:ext>
            </a:extLst>
          </p:cNvPr>
          <p:cNvSpPr txBox="1"/>
          <p:nvPr/>
        </p:nvSpPr>
        <p:spPr>
          <a:xfrm>
            <a:off x="2640791" y="4491212"/>
            <a:ext cx="3082895" cy="64633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ACADEMY ENGRAVED LET PLAIN:1.0" panose="02000000000000000000" pitchFamily="2" charset="0"/>
              </a:rPr>
              <a:t>Modular RAG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047DC12-B1D1-0733-3644-355BCD3E88D3}"/>
              </a:ext>
            </a:extLst>
          </p:cNvPr>
          <p:cNvSpPr txBox="1"/>
          <p:nvPr/>
        </p:nvSpPr>
        <p:spPr>
          <a:xfrm>
            <a:off x="5926318" y="5051232"/>
            <a:ext cx="2576346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ACADEMY ENGRAVED LET PLAIN:1.0" panose="02000000000000000000" pitchFamily="2" charset="0"/>
              </a:rPr>
              <a:t>Radio RAG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2180D40-9CCB-EE74-09E3-B2277928CEC9}"/>
              </a:ext>
            </a:extLst>
          </p:cNvPr>
          <p:cNvSpPr txBox="1"/>
          <p:nvPr/>
        </p:nvSpPr>
        <p:spPr>
          <a:xfrm>
            <a:off x="3305601" y="5861185"/>
            <a:ext cx="7016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Read more on this: </a:t>
            </a:r>
            <a:r>
              <a:rPr lang="en-US" dirty="0">
                <a:hlinkClick r:id="rId2"/>
              </a:rPr>
              <a:t>https://www.projectpro.io/article/rag-architecture/1079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488719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AA1B1A-DD95-C7BB-A76F-3025C4C4A174}"/>
              </a:ext>
            </a:extLst>
          </p:cNvPr>
          <p:cNvSpPr txBox="1"/>
          <p:nvPr/>
        </p:nvSpPr>
        <p:spPr>
          <a:xfrm>
            <a:off x="4182717" y="3150704"/>
            <a:ext cx="382656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accent5">
                    <a:lumMod val="75000"/>
                  </a:schemeClr>
                </a:solidFill>
                <a:latin typeface="+mj-lt"/>
              </a:rPr>
              <a:t>Demo</a:t>
            </a:r>
            <a:r>
              <a:rPr lang="en-US" sz="4400" dirty="0">
                <a:latin typeface="+mj-lt"/>
              </a:rPr>
              <a:t> Time!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03AAA5-6CA9-B13B-417A-929703B05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Zeba Karkhanawala, AWAAI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7A0558-0324-8DD8-D15B-173F572D8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4986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BC3DB-D902-A631-2A82-C746A226D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build this together?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63D5AB-9E61-536A-9303-0DAA7F8158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Workshop: 12</a:t>
            </a:r>
            <a:r>
              <a:rPr lang="en-US" baseline="30000" dirty="0"/>
              <a:t>th</a:t>
            </a:r>
            <a:r>
              <a:rPr lang="en-US" dirty="0"/>
              <a:t> February 2025, 8 PM EST</a:t>
            </a:r>
          </a:p>
          <a:p>
            <a:r>
              <a:rPr lang="en-US" dirty="0"/>
              <a:t>Pre-requisites:</a:t>
            </a:r>
          </a:p>
          <a:p>
            <a:pPr lvl="1"/>
            <a:r>
              <a:rPr lang="en-US" dirty="0"/>
              <a:t>Laptop (obviously </a:t>
            </a:r>
            <a:r>
              <a:rPr lang="en-US" dirty="0">
                <a:sym typeface="Wingdings" pitchFamily="2" charset="2"/>
              </a:rPr>
              <a:t>)</a:t>
            </a:r>
          </a:p>
          <a:p>
            <a:pPr lvl="1"/>
            <a:r>
              <a:rPr lang="en-US" dirty="0"/>
              <a:t>OpenAI API Key – we’ll share a document detailing the steps! </a:t>
            </a:r>
          </a:p>
          <a:p>
            <a:pPr lvl="1"/>
            <a:r>
              <a:rPr lang="en-US" dirty="0"/>
              <a:t>Google Drive account – any Gmail account would do!</a:t>
            </a:r>
          </a:p>
          <a:p>
            <a:pPr lvl="1"/>
            <a:r>
              <a:rPr lang="en-US" dirty="0"/>
              <a:t>Install GitHub (optional – needed only when deploying the chatbot on </a:t>
            </a:r>
            <a:r>
              <a:rPr lang="en-US" dirty="0" err="1"/>
              <a:t>Streamlit</a:t>
            </a:r>
            <a:r>
              <a:rPr lang="en-US" dirty="0"/>
              <a:t> Cloud)</a:t>
            </a:r>
          </a:p>
          <a:p>
            <a:pPr lvl="2"/>
            <a:r>
              <a:rPr lang="en-US" dirty="0"/>
              <a:t>GitHub Installation Instructions for Windows 11: </a:t>
            </a:r>
            <a:r>
              <a:rPr lang="en-US" dirty="0">
                <a:hlinkClick r:id="rId2"/>
              </a:rPr>
              <a:t>https://</a:t>
            </a:r>
            <a:r>
              <a:rPr lang="en-US" dirty="0" err="1">
                <a:hlinkClick r:id="rId2"/>
              </a:rPr>
              <a:t>www.youtube.com</a:t>
            </a:r>
            <a:r>
              <a:rPr lang="en-US" dirty="0">
                <a:hlinkClick r:id="rId2"/>
              </a:rPr>
              <a:t>/</a:t>
            </a:r>
            <a:r>
              <a:rPr lang="en-US" dirty="0" err="1">
                <a:hlinkClick r:id="rId2"/>
              </a:rPr>
              <a:t>watch?v</a:t>
            </a:r>
            <a:r>
              <a:rPr lang="en-US" dirty="0">
                <a:hlinkClick r:id="rId2"/>
              </a:rPr>
              <a:t>=AdzKzlp66sQ </a:t>
            </a:r>
            <a:endParaRPr lang="en-US" dirty="0"/>
          </a:p>
          <a:p>
            <a:pPr lvl="2"/>
            <a:r>
              <a:rPr lang="en-US" dirty="0"/>
              <a:t>GitHub Installation Instructions for Mac: </a:t>
            </a:r>
            <a:r>
              <a:rPr lang="en-US" dirty="0">
                <a:hlinkClick r:id="rId3"/>
              </a:rPr>
              <a:t>https://www.youtube.com/watch?v=p0Js7IF17yI   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5A0D99-A5EE-BA4F-EA73-D60593027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Zeba Karkhanawala, AWAAI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8C8B66-2625-D42D-C630-85616D4B5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7776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451A152-F37F-2277-B443-A6D776640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 &amp; resources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0348CC0-8193-27F0-36C7-A5CBF414D5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400" dirty="0"/>
              <a:t>Learn RAG from Scratch: </a:t>
            </a:r>
            <a:r>
              <a:rPr lang="en-US" sz="1400" dirty="0">
                <a:hlinkClick r:id="rId2"/>
              </a:rPr>
              <a:t>https://www.youtube.com/watch?v=sVcwVQRHIc8</a:t>
            </a:r>
            <a:r>
              <a:rPr lang="en-US" sz="1400" dirty="0"/>
              <a:t>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Top 7 RAG Use Cases and Applications to Explore in 2025: </a:t>
            </a:r>
            <a:r>
              <a:rPr lang="en-US" sz="1400" dirty="0">
                <a:hlinkClick r:id="rId3"/>
              </a:rPr>
              <a:t>https://www.projectpro.io/article/rag-use-cases-and-applications/1059</a:t>
            </a:r>
            <a:r>
              <a:rPr lang="en-US" sz="1400" dirty="0"/>
              <a:t>. 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What is RAG: </a:t>
            </a:r>
            <a:r>
              <a:rPr lang="en-US" sz="1400" dirty="0">
                <a:hlinkClick r:id="rId4"/>
              </a:rPr>
              <a:t>htt ps://www.clarifai.com/blog/what-is-rag-retrieval-augmented-generation</a:t>
            </a:r>
            <a:r>
              <a:rPr lang="en-US" sz="1400" dirty="0"/>
              <a:t> 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 err="1"/>
              <a:t>DataCamp</a:t>
            </a:r>
            <a:r>
              <a:rPr lang="en-US" sz="1400" dirty="0"/>
              <a:t> Course: RAG using </a:t>
            </a:r>
            <a:r>
              <a:rPr lang="en-US" sz="1400" dirty="0" err="1"/>
              <a:t>LangChain</a:t>
            </a:r>
            <a:r>
              <a:rPr lang="en-US" sz="1400" dirty="0"/>
              <a:t> by Meri Nova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Comprehensive Guide to RAG Tech Stack: </a:t>
            </a:r>
            <a:r>
              <a:rPr lang="en-US" sz="1400" dirty="0">
                <a:hlinkClick r:id="rId5"/>
              </a:rPr>
              <a:t>https://www.useparagon.com/blog/comprehensive-guide-to-the-rag-tech-stack</a:t>
            </a:r>
            <a:r>
              <a:rPr lang="en-US" sz="1400" dirty="0"/>
              <a:t>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What is RAG Architecture? </a:t>
            </a:r>
            <a:r>
              <a:rPr lang="en-US" sz="1400" dirty="0">
                <a:hlinkClick r:id="rId6"/>
              </a:rPr>
              <a:t>https://www.projectpro.io/article/rag-architecture/1079</a:t>
            </a:r>
            <a:r>
              <a:rPr lang="en-US" sz="1400" dirty="0"/>
              <a:t>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5-day Gen AI Intensive Course with Google and Kaggle: </a:t>
            </a:r>
            <a:r>
              <a:rPr lang="en-US" sz="1400" dirty="0">
                <a:hlinkClick r:id="rId7"/>
              </a:rPr>
              <a:t>https://www.kaggle.com/learn-guide/5-day-genai#GenAI</a:t>
            </a:r>
            <a:r>
              <a:rPr lang="en-US" sz="1400" dirty="0"/>
              <a:t>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310DDFD-B41E-4822-4B36-CE569717C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Zeba Karkhanawala, AWAAI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3B953B9-847B-8375-9DBC-81D10FB05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945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38BEE4F-A613-2175-5267-195382B15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you!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97D39B6-BAE3-12ED-5A6A-2CC96233DE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Any questions?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03F2BD-06F5-2971-35E4-535EAA8D3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Zeba Karkhanawala, AWAAI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F143A7-E4F4-0A2E-DA3E-79C2B1761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021754"/>
      </p:ext>
    </p:extLst>
  </p:cSld>
  <p:clrMapOvr>
    <a:masterClrMapping/>
  </p:clrMapOvr>
</p:sld>
</file>

<file path=ppt/theme/theme1.xml><?xml version="1.0" encoding="utf-8"?>
<a:theme xmlns:a="http://schemas.openxmlformats.org/drawingml/2006/main" name="AngleLinesVTI">
  <a:themeElements>
    <a:clrScheme name="AnalogousFromLightSeed_2SEEDS">
      <a:dk1>
        <a:srgbClr val="000000"/>
      </a:dk1>
      <a:lt1>
        <a:srgbClr val="FFFFFF"/>
      </a:lt1>
      <a:dk2>
        <a:srgbClr val="263820"/>
      </a:dk2>
      <a:lt2>
        <a:srgbClr val="E7E2E8"/>
      </a:lt2>
      <a:accent1>
        <a:srgbClr val="61B546"/>
      </a:accent1>
      <a:accent2>
        <a:srgbClr val="8EAA57"/>
      </a:accent2>
      <a:accent3>
        <a:srgbClr val="42B556"/>
      </a:accent3>
      <a:accent4>
        <a:srgbClr val="CB58E1"/>
      </a:accent4>
      <a:accent5>
        <a:srgbClr val="E676C9"/>
      </a:accent5>
      <a:accent6>
        <a:srgbClr val="E15884"/>
      </a:accent6>
      <a:hlink>
        <a:srgbClr val="9D69AE"/>
      </a:hlink>
      <a:folHlink>
        <a:srgbClr val="7F7F7F"/>
      </a:folHlink>
    </a:clrScheme>
    <a:fontScheme name="Walbaum Light Univers Light">
      <a:majorFont>
        <a:latin typeface="Walbaum Display Light"/>
        <a:ea typeface=""/>
        <a:cs typeface=""/>
      </a:majorFont>
      <a:minorFont>
        <a:latin typeface="Univers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ngleLinesVTI" id="{BC1FC193-C72F-4761-9899-1105EDF6BAE8}" vid="{64612625-F022-44B7-B9FA-9D26DEDBDC2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2058</TotalTime>
  <Words>1137</Words>
  <Application>Microsoft Macintosh PowerPoint</Application>
  <PresentationFormat>Widescreen</PresentationFormat>
  <Paragraphs>169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ACADEMY ENGRAVED LET PLAIN:1.0</vt:lpstr>
      <vt:lpstr>Aptos</vt:lpstr>
      <vt:lpstr>Arial</vt:lpstr>
      <vt:lpstr>Barlow</vt:lpstr>
      <vt:lpstr>Univers Condensed Light</vt:lpstr>
      <vt:lpstr>Walbaum Display Light</vt:lpstr>
      <vt:lpstr>Wingdings</vt:lpstr>
      <vt:lpstr>AngleLinesVTI</vt:lpstr>
      <vt:lpstr>Asian Women Advancing AI</vt:lpstr>
      <vt:lpstr>Challenges with Traditional ChatGPT for File-Based Queries</vt:lpstr>
      <vt:lpstr>Why RAG Is the Solution?</vt:lpstr>
      <vt:lpstr>RAG Architecture Overview</vt:lpstr>
      <vt:lpstr>Why RAG Stands Out?</vt:lpstr>
      <vt:lpstr>Limitations of rag</vt:lpstr>
      <vt:lpstr>RAG in Action</vt:lpstr>
      <vt:lpstr>Intripid</vt:lpstr>
      <vt:lpstr>Industry level rag implementation example</vt:lpstr>
      <vt:lpstr>PowerPoint Presentation</vt:lpstr>
      <vt:lpstr>Tech stack for rag</vt:lpstr>
      <vt:lpstr>Rag evaluation</vt:lpstr>
      <vt:lpstr>Improving the RAG </vt:lpstr>
      <vt:lpstr>That’s not it…</vt:lpstr>
      <vt:lpstr>PowerPoint Presentation</vt:lpstr>
      <vt:lpstr>Let’s build this together?</vt:lpstr>
      <vt:lpstr>References &amp; resources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Zeba Irfanbhai Karkhanawala</dc:creator>
  <cp:lastModifiedBy>Zeba Irfanbhai Karkhanawala</cp:lastModifiedBy>
  <cp:revision>66</cp:revision>
  <dcterms:created xsi:type="dcterms:W3CDTF">2025-01-06T19:53:05Z</dcterms:created>
  <dcterms:modified xsi:type="dcterms:W3CDTF">2025-02-05T23:49:25Z</dcterms:modified>
</cp:coreProperties>
</file>